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9" r:id="rId8"/>
    <p:sldId id="270" r:id="rId9"/>
    <p:sldId id="271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9" d="100"/>
          <a:sy n="119" d="100"/>
        </p:scale>
        <p:origin x="669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 smtClean="0"/>
              <a:t>Kliknite, da uredite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8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0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 smtClean="0"/>
              <a:t>Uredite sloge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6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7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smtClean="0"/>
              <a:t>Uredite sloge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smtClean="0"/>
              <a:t>Uredite sloge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4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9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9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 smtClean="0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0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 smtClean="0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 smtClean="0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51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mtClean="0"/>
              <a:t>Uredite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 smtClean="0"/>
              <a:t>Uredite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AD1E4-0ED8-4202-B3FB-F550104B610F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06ACD-352E-48E6-AD89-4AE6417E4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7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595184" y="354226"/>
            <a:ext cx="7772400" cy="593125"/>
          </a:xfrm>
        </p:spPr>
        <p:txBody>
          <a:bodyPr>
            <a:normAutofit/>
          </a:bodyPr>
          <a:lstStyle/>
          <a:p>
            <a:r>
              <a:rPr lang="en-GB" sz="3200" dirty="0" err="1" smtClean="0"/>
              <a:t>Teorija</a:t>
            </a:r>
            <a:r>
              <a:rPr lang="en-GB" sz="3200" dirty="0" smtClean="0"/>
              <a:t> </a:t>
            </a:r>
            <a:r>
              <a:rPr lang="en-GB" sz="3200" dirty="0" err="1" smtClean="0"/>
              <a:t>dinamičnih</a:t>
            </a:r>
            <a:r>
              <a:rPr lang="en-GB" sz="3200" dirty="0" smtClean="0"/>
              <a:t> </a:t>
            </a:r>
            <a:r>
              <a:rPr lang="en-GB" sz="3200" dirty="0" err="1" smtClean="0"/>
              <a:t>sistemov</a:t>
            </a:r>
            <a:endParaRPr lang="en-US" sz="3200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436473" y="5726961"/>
            <a:ext cx="6089822" cy="823784"/>
          </a:xfrm>
        </p:spPr>
        <p:txBody>
          <a:bodyPr>
            <a:normAutofit/>
          </a:bodyPr>
          <a:lstStyle/>
          <a:p>
            <a:r>
              <a:rPr lang="en-GB" sz="1800" dirty="0" smtClean="0"/>
              <a:t>Žan Butala</a:t>
            </a:r>
          </a:p>
          <a:p>
            <a:r>
              <a:rPr lang="en-GB" sz="1800" dirty="0" smtClean="0"/>
              <a:t>18.1.2024</a:t>
            </a:r>
            <a:endParaRPr lang="en-US" sz="1800" dirty="0"/>
          </a:p>
        </p:txBody>
      </p:sp>
      <p:pic>
        <p:nvPicPr>
          <p:cNvPr id="4" name="Slika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966" y="1256302"/>
            <a:ext cx="5154624" cy="3543804"/>
          </a:xfrm>
          <a:prstGeom prst="rect">
            <a:avLst/>
          </a:prstGeom>
        </p:spPr>
      </p:pic>
      <p:sp>
        <p:nvSpPr>
          <p:cNvPr id="5" name="PoljeZBesedilom 4"/>
          <p:cNvSpPr txBox="1"/>
          <p:nvPr/>
        </p:nvSpPr>
        <p:spPr>
          <a:xfrm>
            <a:off x="2067697" y="4800106"/>
            <a:ext cx="482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 smtClean="0">
                <a:latin typeface="+mj-lt"/>
              </a:rPr>
              <a:t>Naloga</a:t>
            </a:r>
            <a:r>
              <a:rPr lang="en-GB" sz="3200" dirty="0" smtClean="0">
                <a:latin typeface="+mj-lt"/>
              </a:rPr>
              <a:t> 25: </a:t>
            </a:r>
            <a:r>
              <a:rPr lang="en-GB" sz="3200" dirty="0" err="1" smtClean="0">
                <a:latin typeface="+mj-lt"/>
              </a:rPr>
              <a:t>Sinajev</a:t>
            </a:r>
            <a:r>
              <a:rPr lang="en-GB" sz="3200" dirty="0" smtClean="0">
                <a:latin typeface="+mj-lt"/>
              </a:rPr>
              <a:t> </a:t>
            </a:r>
            <a:r>
              <a:rPr lang="en-GB" sz="3200" dirty="0" err="1" smtClean="0">
                <a:latin typeface="+mj-lt"/>
              </a:rPr>
              <a:t>biljard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325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vsebine 2"/>
          <p:cNvSpPr>
            <a:spLocks noGrp="1"/>
          </p:cNvSpPr>
          <p:nvPr>
            <p:ph idx="1"/>
          </p:nvPr>
        </p:nvSpPr>
        <p:spPr>
          <a:xfrm>
            <a:off x="603936" y="573474"/>
            <a:ext cx="7886700" cy="2416861"/>
          </a:xfrm>
        </p:spPr>
        <p:txBody>
          <a:bodyPr/>
          <a:lstStyle/>
          <a:p>
            <a:pPr marL="0" indent="0">
              <a:buNone/>
            </a:pPr>
            <a:r>
              <a:rPr lang="en-GB" dirty="0" err="1" smtClean="0"/>
              <a:t>Naloga</a:t>
            </a:r>
            <a:r>
              <a:rPr lang="en-GB" dirty="0" smtClean="0"/>
              <a:t>: </a:t>
            </a:r>
          </a:p>
          <a:p>
            <a:r>
              <a:rPr lang="en-GB" sz="2400" dirty="0" err="1" smtClean="0"/>
              <a:t>Izračunati</a:t>
            </a:r>
            <a:r>
              <a:rPr lang="en-GB" sz="2400" dirty="0" smtClean="0"/>
              <a:t> </a:t>
            </a:r>
            <a:r>
              <a:rPr lang="en-GB" sz="2400" dirty="0" err="1" smtClean="0"/>
              <a:t>Ljapunove</a:t>
            </a:r>
            <a:r>
              <a:rPr lang="en-GB" sz="2400" dirty="0" smtClean="0"/>
              <a:t> </a:t>
            </a:r>
            <a:r>
              <a:rPr lang="en-GB" sz="2400" dirty="0" err="1" smtClean="0"/>
              <a:t>eksponente</a:t>
            </a:r>
            <a:r>
              <a:rPr lang="en-GB" sz="2400" dirty="0" smtClean="0"/>
              <a:t> v </a:t>
            </a:r>
            <a:r>
              <a:rPr lang="en-GB" sz="2400" dirty="0" err="1" smtClean="0"/>
              <a:t>odvisnosti</a:t>
            </a:r>
            <a:r>
              <a:rPr lang="en-GB" sz="2400" dirty="0" smtClean="0"/>
              <a:t> od </a:t>
            </a:r>
            <a:r>
              <a:rPr lang="en-GB" sz="2400" dirty="0" err="1" smtClean="0"/>
              <a:t>polmera</a:t>
            </a:r>
            <a:r>
              <a:rPr lang="en-GB" sz="2400" dirty="0" smtClean="0"/>
              <a:t> </a:t>
            </a:r>
            <a:r>
              <a:rPr lang="en-GB" sz="2400" dirty="0" err="1" smtClean="0"/>
              <a:t>kroga</a:t>
            </a:r>
            <a:endParaRPr lang="en-GB" sz="2400" dirty="0" smtClean="0"/>
          </a:p>
          <a:p>
            <a:r>
              <a:rPr lang="en-GB" sz="2400" dirty="0" err="1" smtClean="0"/>
              <a:t>Analizirati</a:t>
            </a:r>
            <a:r>
              <a:rPr lang="en-GB" sz="2400" dirty="0" smtClean="0"/>
              <a:t> </a:t>
            </a:r>
            <a:r>
              <a:rPr lang="en-GB" sz="2400" dirty="0" err="1" smtClean="0"/>
              <a:t>stabilnost</a:t>
            </a:r>
            <a:r>
              <a:rPr lang="en-GB" sz="2400" dirty="0" smtClean="0"/>
              <a:t> </a:t>
            </a:r>
            <a:r>
              <a:rPr lang="en-GB" sz="2400" dirty="0" err="1" smtClean="0"/>
              <a:t>periodičnih</a:t>
            </a:r>
            <a:r>
              <a:rPr lang="en-GB" sz="2400" dirty="0" smtClean="0"/>
              <a:t> orbit</a:t>
            </a:r>
            <a:endParaRPr lang="en-US" sz="2400" dirty="0"/>
          </a:p>
        </p:txBody>
      </p:sp>
      <p:pic>
        <p:nvPicPr>
          <p:cNvPr id="4" name="Slika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5222"/>
            <a:ext cx="3041821" cy="3041821"/>
          </a:xfrm>
          <a:prstGeom prst="rect">
            <a:avLst/>
          </a:prstGeom>
        </p:spPr>
      </p:pic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48" y="3575221"/>
            <a:ext cx="3041821" cy="3041821"/>
          </a:xfrm>
          <a:prstGeom prst="rect">
            <a:avLst/>
          </a:prstGeom>
        </p:spPr>
      </p:pic>
      <p:pic>
        <p:nvPicPr>
          <p:cNvPr id="6" name="Slika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096" y="3575221"/>
            <a:ext cx="3041821" cy="304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5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značba mesta vsebin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7113"/>
            <a:ext cx="4024297" cy="3018223"/>
          </a:xfrm>
        </p:spPr>
      </p:pic>
      <p:pic>
        <p:nvPicPr>
          <p:cNvPr id="7" name="Slika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60" y="1957509"/>
            <a:ext cx="4970808" cy="3417430"/>
          </a:xfrm>
          <a:prstGeom prst="rect">
            <a:avLst/>
          </a:prstGeom>
        </p:spPr>
      </p:pic>
      <p:sp>
        <p:nvSpPr>
          <p:cNvPr id="9" name="PoljeZBesedilom 8"/>
          <p:cNvSpPr txBox="1"/>
          <p:nvPr/>
        </p:nvSpPr>
        <p:spPr>
          <a:xfrm>
            <a:off x="759409" y="411893"/>
            <a:ext cx="3082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 smtClean="0">
                <a:latin typeface="+mj-lt"/>
              </a:rPr>
              <a:t>Ljapunov</a:t>
            </a:r>
            <a:r>
              <a:rPr lang="en-GB" sz="2800" dirty="0" smtClean="0">
                <a:latin typeface="+mj-lt"/>
              </a:rPr>
              <a:t> </a:t>
            </a:r>
            <a:r>
              <a:rPr lang="en-GB" sz="2800" dirty="0" err="1" smtClean="0">
                <a:latin typeface="+mj-lt"/>
              </a:rPr>
              <a:t>eksponent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440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52" y="2044916"/>
            <a:ext cx="4238927" cy="2914262"/>
          </a:xfrm>
          <a:prstGeom prst="rect">
            <a:avLst/>
          </a:prstGeom>
        </p:spPr>
      </p:pic>
      <p:pic>
        <p:nvPicPr>
          <p:cNvPr id="10" name="Slika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9" t="49322" r="21441" b="39228"/>
          <a:stretch/>
        </p:blipFill>
        <p:spPr>
          <a:xfrm>
            <a:off x="858125" y="875652"/>
            <a:ext cx="2714235" cy="699263"/>
          </a:xfrm>
          <a:prstGeom prst="rect">
            <a:avLst/>
          </a:prstGeom>
        </p:spPr>
      </p:pic>
      <p:pic>
        <p:nvPicPr>
          <p:cNvPr id="11" name="Slika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567" y="2044916"/>
            <a:ext cx="4238927" cy="291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97" y="731945"/>
            <a:ext cx="3649859" cy="2509278"/>
          </a:xfrm>
          <a:prstGeom prst="rect">
            <a:avLst/>
          </a:prstGeom>
        </p:spPr>
      </p:pic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370" y="3324386"/>
            <a:ext cx="4726800" cy="3249675"/>
          </a:xfrm>
          <a:prstGeom prst="rect">
            <a:avLst/>
          </a:prstGeom>
        </p:spPr>
      </p:pic>
      <p:pic>
        <p:nvPicPr>
          <p:cNvPr id="6" name="Slika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062" y="733887"/>
            <a:ext cx="3647034" cy="250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2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269"/>
          </a:xfrm>
        </p:spPr>
        <p:txBody>
          <a:bodyPr>
            <a:normAutofit/>
          </a:bodyPr>
          <a:lstStyle/>
          <a:p>
            <a:r>
              <a:rPr lang="en-GB" sz="3200" dirty="0" err="1" smtClean="0"/>
              <a:t>Fazni</a:t>
            </a:r>
            <a:r>
              <a:rPr lang="en-GB" sz="3200" dirty="0" smtClean="0"/>
              <a:t> </a:t>
            </a:r>
            <a:r>
              <a:rPr lang="en-GB" sz="3200" dirty="0" err="1" smtClean="0"/>
              <a:t>prostor</a:t>
            </a:r>
            <a:r>
              <a:rPr lang="en-GB" sz="3200" dirty="0" smtClean="0"/>
              <a:t> v P-B </a:t>
            </a:r>
            <a:r>
              <a:rPr lang="en-GB" sz="3200" dirty="0" err="1" smtClean="0"/>
              <a:t>koordinatah</a:t>
            </a:r>
            <a:endParaRPr lang="en-US" sz="3200" dirty="0"/>
          </a:p>
        </p:txBody>
      </p:sp>
      <p:sp>
        <p:nvSpPr>
          <p:cNvPr id="18" name="AutoShape 2" descr="Figure 1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Slika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2292081"/>
            <a:ext cx="4181334" cy="3195123"/>
          </a:xfrm>
          <a:prstGeom prst="rect">
            <a:avLst/>
          </a:prstGeom>
        </p:spPr>
      </p:pic>
      <p:pic>
        <p:nvPicPr>
          <p:cNvPr id="23" name="Slika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279" y="2228813"/>
            <a:ext cx="3479071" cy="3109470"/>
          </a:xfrm>
          <a:prstGeom prst="rect">
            <a:avLst/>
          </a:prstGeom>
        </p:spPr>
      </p:pic>
      <p:cxnSp>
        <p:nvCxnSpPr>
          <p:cNvPr id="25" name="Raven puščični povezovalnik 24"/>
          <p:cNvCxnSpPr/>
          <p:nvPr/>
        </p:nvCxnSpPr>
        <p:spPr>
          <a:xfrm flipV="1">
            <a:off x="775855" y="3318933"/>
            <a:ext cx="495684" cy="29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Raven puščični povezovalnik 27"/>
          <p:cNvCxnSpPr/>
          <p:nvPr/>
        </p:nvCxnSpPr>
        <p:spPr>
          <a:xfrm>
            <a:off x="2549237" y="2558473"/>
            <a:ext cx="369454" cy="418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Raven puščični povezovalnik 29"/>
          <p:cNvCxnSpPr/>
          <p:nvPr/>
        </p:nvCxnSpPr>
        <p:spPr>
          <a:xfrm>
            <a:off x="2527685" y="2558473"/>
            <a:ext cx="427951" cy="67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Raven puščični povezovalnik 31"/>
          <p:cNvCxnSpPr/>
          <p:nvPr/>
        </p:nvCxnSpPr>
        <p:spPr>
          <a:xfrm flipV="1">
            <a:off x="775855" y="3318933"/>
            <a:ext cx="0" cy="29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Raven povezovalnik 36"/>
          <p:cNvCxnSpPr/>
          <p:nvPr/>
        </p:nvCxnSpPr>
        <p:spPr>
          <a:xfrm flipV="1">
            <a:off x="2918691" y="2626206"/>
            <a:ext cx="36945" cy="35098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Raven povezovalnik 44"/>
          <p:cNvCxnSpPr/>
          <p:nvPr/>
        </p:nvCxnSpPr>
        <p:spPr>
          <a:xfrm flipH="1">
            <a:off x="775855" y="3318933"/>
            <a:ext cx="495684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PoljeZBesedilom 45"/>
              <p:cNvSpPr txBox="1"/>
              <p:nvPr/>
            </p:nvSpPr>
            <p:spPr>
              <a:xfrm>
                <a:off x="475243" y="3506775"/>
                <a:ext cx="152862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800" dirty="0" smtClean="0"/>
                  <a:t>1</a:t>
                </a:r>
                <a:endParaRPr lang="en-US" sz="1400" dirty="0"/>
              </a:p>
            </p:txBody>
          </p:sp>
        </mc:Choice>
        <mc:Fallback>
          <p:sp>
            <p:nvSpPr>
              <p:cNvPr id="46" name="PoljeZBesedilom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43" y="3506775"/>
                <a:ext cx="152862" cy="210507"/>
              </a:xfrm>
              <a:prstGeom prst="rect">
                <a:avLst/>
              </a:prstGeom>
              <a:blipFill>
                <a:blip r:embed="rId4"/>
                <a:stretch>
                  <a:fillRect l="-44000" r="-44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PoljeZBesedilom 46"/>
              <p:cNvSpPr txBox="1"/>
              <p:nvPr/>
            </p:nvSpPr>
            <p:spPr>
              <a:xfrm>
                <a:off x="2610157" y="2292081"/>
                <a:ext cx="152862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800" dirty="0" smtClean="0"/>
                  <a:t>2</a:t>
                </a:r>
                <a:endParaRPr lang="en-US" sz="1400" dirty="0"/>
              </a:p>
            </p:txBody>
          </p:sp>
        </mc:Choice>
        <mc:Fallback>
          <p:sp>
            <p:nvSpPr>
              <p:cNvPr id="47" name="PoljeZBesedilom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7" y="2292081"/>
                <a:ext cx="152862" cy="210507"/>
              </a:xfrm>
              <a:prstGeom prst="rect">
                <a:avLst/>
              </a:prstGeom>
              <a:blipFill>
                <a:blip r:embed="rId5"/>
                <a:stretch>
                  <a:fillRect l="-40000" r="-48000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PoljeZBesedilom 47"/>
              <p:cNvSpPr txBox="1"/>
              <p:nvPr/>
            </p:nvSpPr>
            <p:spPr>
              <a:xfrm>
                <a:off x="403379" y="3592368"/>
                <a:ext cx="7854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48" name="PoljeZBesedilom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79" y="3592368"/>
                <a:ext cx="78547" cy="123111"/>
              </a:xfrm>
              <a:prstGeom prst="rect">
                <a:avLst/>
              </a:prstGeom>
              <a:blipFill>
                <a:blip r:embed="rId6"/>
                <a:stretch>
                  <a:fillRect l="-30769" r="-307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PoljeZBesedilom 48"/>
              <p:cNvSpPr txBox="1"/>
              <p:nvPr/>
            </p:nvSpPr>
            <p:spPr>
              <a:xfrm>
                <a:off x="2483321" y="2370240"/>
                <a:ext cx="13183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49" name="PoljeZBesedilom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321" y="2370240"/>
                <a:ext cx="131833" cy="123111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Lok 56"/>
          <p:cNvSpPr/>
          <p:nvPr/>
        </p:nvSpPr>
        <p:spPr>
          <a:xfrm rot="17046959" flipH="1">
            <a:off x="1660868" y="2674176"/>
            <a:ext cx="2058386" cy="3710360"/>
          </a:xfrm>
          <a:prstGeom prst="arc">
            <a:avLst>
              <a:gd name="adj1" fmla="val 17089191"/>
              <a:gd name="adj2" fmla="val 119334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Raven povezovalnik 58"/>
          <p:cNvCxnSpPr/>
          <p:nvPr/>
        </p:nvCxnSpPr>
        <p:spPr>
          <a:xfrm flipV="1">
            <a:off x="2461768" y="5471810"/>
            <a:ext cx="28435" cy="12623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Raven puščični povezovalnik 62"/>
          <p:cNvCxnSpPr>
            <a:stCxn id="57" idx="0"/>
          </p:cNvCxnSpPr>
          <p:nvPr/>
        </p:nvCxnSpPr>
        <p:spPr>
          <a:xfrm flipH="1" flipV="1">
            <a:off x="929794" y="4493981"/>
            <a:ext cx="28288" cy="5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PoljeZBesedilom 65"/>
              <p:cNvSpPr txBox="1"/>
              <p:nvPr/>
            </p:nvSpPr>
            <p:spPr>
              <a:xfrm>
                <a:off x="6848443" y="5232660"/>
                <a:ext cx="16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b="0" dirty="0" smtClean="0"/>
              </a:p>
            </p:txBody>
          </p:sp>
        </mc:Choice>
        <mc:Fallback>
          <p:sp>
            <p:nvSpPr>
              <p:cNvPr id="66" name="PoljeZBesedilom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443" y="5232660"/>
                <a:ext cx="165045" cy="276999"/>
              </a:xfrm>
              <a:prstGeom prst="rect">
                <a:avLst/>
              </a:prstGeom>
              <a:blipFill>
                <a:blip r:embed="rId8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PoljeZBesedilom 66"/>
              <p:cNvSpPr txBox="1"/>
              <p:nvPr/>
            </p:nvSpPr>
            <p:spPr>
              <a:xfrm>
                <a:off x="4989624" y="3612643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GB" b="0" dirty="0" smtClean="0"/>
              </a:p>
            </p:txBody>
          </p:sp>
        </mc:Choice>
        <mc:Fallback>
          <p:sp>
            <p:nvSpPr>
              <p:cNvPr id="67" name="PoljeZBesedilom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624" y="3612643"/>
                <a:ext cx="183960" cy="276999"/>
              </a:xfrm>
              <a:prstGeom prst="rect">
                <a:avLst/>
              </a:prstGeom>
              <a:blipFill>
                <a:blip r:embed="rId9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85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269"/>
          </a:xfrm>
        </p:spPr>
        <p:txBody>
          <a:bodyPr>
            <a:normAutofit/>
          </a:bodyPr>
          <a:lstStyle/>
          <a:p>
            <a:r>
              <a:rPr lang="en-GB" sz="3200" dirty="0" err="1" smtClean="0"/>
              <a:t>Fazni</a:t>
            </a:r>
            <a:r>
              <a:rPr lang="en-GB" sz="3200" dirty="0" smtClean="0"/>
              <a:t> </a:t>
            </a:r>
            <a:r>
              <a:rPr lang="en-GB" sz="3200" dirty="0" err="1" smtClean="0"/>
              <a:t>prostor</a:t>
            </a:r>
            <a:r>
              <a:rPr lang="en-GB" sz="3200" dirty="0" smtClean="0"/>
              <a:t> v P-B </a:t>
            </a:r>
            <a:r>
              <a:rPr lang="en-GB" sz="3200" dirty="0" err="1" smtClean="0"/>
              <a:t>koordinatah</a:t>
            </a:r>
            <a:endParaRPr lang="en-US" sz="3200" dirty="0"/>
          </a:p>
        </p:txBody>
      </p:sp>
      <p:pic>
        <p:nvPicPr>
          <p:cNvPr id="4" name="Označba mesta vsebin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502" y="2109676"/>
            <a:ext cx="3388927" cy="3388927"/>
          </a:xfrm>
        </p:spPr>
      </p:pic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5035"/>
            <a:ext cx="5330942" cy="399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3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269"/>
          </a:xfrm>
        </p:spPr>
        <p:txBody>
          <a:bodyPr>
            <a:normAutofit/>
          </a:bodyPr>
          <a:lstStyle/>
          <a:p>
            <a:r>
              <a:rPr lang="en-GB" sz="3200" dirty="0" err="1" smtClean="0"/>
              <a:t>Fazni</a:t>
            </a:r>
            <a:r>
              <a:rPr lang="en-GB" sz="3200" dirty="0" smtClean="0"/>
              <a:t> </a:t>
            </a:r>
            <a:r>
              <a:rPr lang="en-GB" sz="3200" dirty="0" err="1" smtClean="0"/>
              <a:t>prostor</a:t>
            </a:r>
            <a:r>
              <a:rPr lang="en-GB" sz="3200" dirty="0" smtClean="0"/>
              <a:t> v P-B </a:t>
            </a:r>
            <a:r>
              <a:rPr lang="en-GB" sz="3200" dirty="0" err="1" smtClean="0"/>
              <a:t>koordinatah</a:t>
            </a:r>
            <a:endParaRPr lang="en-US" sz="3200" dirty="0"/>
          </a:p>
        </p:txBody>
      </p:sp>
      <p:pic>
        <p:nvPicPr>
          <p:cNvPr id="4" name="Označba mesta vsebin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502" y="2109676"/>
            <a:ext cx="3388927" cy="3388927"/>
          </a:xfrm>
        </p:spPr>
      </p:pic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5035"/>
            <a:ext cx="5330942" cy="3998207"/>
          </a:xfrm>
          <a:prstGeom prst="rect">
            <a:avLst/>
          </a:prstGeom>
        </p:spPr>
      </p:pic>
      <p:sp>
        <p:nvSpPr>
          <p:cNvPr id="3" name="Diagram poteka: povezovalnik 2"/>
          <p:cNvSpPr/>
          <p:nvPr/>
        </p:nvSpPr>
        <p:spPr>
          <a:xfrm>
            <a:off x="3806285" y="3594682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gram poteka: povezovalnik 5"/>
          <p:cNvSpPr/>
          <p:nvPr/>
        </p:nvSpPr>
        <p:spPr>
          <a:xfrm>
            <a:off x="4948581" y="3589242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gram poteka: povezovalnik 6"/>
          <p:cNvSpPr/>
          <p:nvPr/>
        </p:nvSpPr>
        <p:spPr>
          <a:xfrm>
            <a:off x="4085961" y="3587248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gram poteka: povezovalnik 7"/>
          <p:cNvSpPr/>
          <p:nvPr/>
        </p:nvSpPr>
        <p:spPr>
          <a:xfrm>
            <a:off x="4377687" y="3592537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gram poteka: povezovalnik 8"/>
          <p:cNvSpPr/>
          <p:nvPr/>
        </p:nvSpPr>
        <p:spPr>
          <a:xfrm>
            <a:off x="4655700" y="3587248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gram poteka: povezovalnik 9"/>
          <p:cNvSpPr/>
          <p:nvPr/>
        </p:nvSpPr>
        <p:spPr>
          <a:xfrm>
            <a:off x="3806285" y="3587248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gram poteka: povezovalnik 10"/>
          <p:cNvSpPr/>
          <p:nvPr/>
        </p:nvSpPr>
        <p:spPr>
          <a:xfrm>
            <a:off x="1126275" y="3594682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gram poteka: povezovalnik 11"/>
          <p:cNvSpPr/>
          <p:nvPr/>
        </p:nvSpPr>
        <p:spPr>
          <a:xfrm>
            <a:off x="1888603" y="3594682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gram poteka: povezovalnik 12"/>
          <p:cNvSpPr/>
          <p:nvPr/>
        </p:nvSpPr>
        <p:spPr>
          <a:xfrm>
            <a:off x="2650931" y="3594682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agram poteka: povezovalnik 13"/>
          <p:cNvSpPr/>
          <p:nvPr/>
        </p:nvSpPr>
        <p:spPr>
          <a:xfrm>
            <a:off x="3386770" y="3594682"/>
            <a:ext cx="133814" cy="129825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gram poteka: povezovalnik 14"/>
          <p:cNvSpPr/>
          <p:nvPr/>
        </p:nvSpPr>
        <p:spPr>
          <a:xfrm>
            <a:off x="1594625" y="4735824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gram poteka: povezovalnik 15"/>
          <p:cNvSpPr/>
          <p:nvPr/>
        </p:nvSpPr>
        <p:spPr>
          <a:xfrm>
            <a:off x="2364059" y="4735823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gram poteka: povezovalnik 16"/>
          <p:cNvSpPr/>
          <p:nvPr/>
        </p:nvSpPr>
        <p:spPr>
          <a:xfrm>
            <a:off x="3100042" y="4735822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iagram poteka: povezovalnik 21"/>
          <p:cNvSpPr/>
          <p:nvPr/>
        </p:nvSpPr>
        <p:spPr>
          <a:xfrm>
            <a:off x="4948581" y="4719541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gram poteka: povezovalnik 22"/>
          <p:cNvSpPr/>
          <p:nvPr/>
        </p:nvSpPr>
        <p:spPr>
          <a:xfrm>
            <a:off x="4085961" y="4717547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gram poteka: povezovalnik 23"/>
          <p:cNvSpPr/>
          <p:nvPr/>
        </p:nvSpPr>
        <p:spPr>
          <a:xfrm>
            <a:off x="4377687" y="4722836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gram poteka: povezovalnik 24"/>
          <p:cNvSpPr/>
          <p:nvPr/>
        </p:nvSpPr>
        <p:spPr>
          <a:xfrm>
            <a:off x="4655700" y="4717547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iagram poteka: povezovalnik 25"/>
          <p:cNvSpPr/>
          <p:nvPr/>
        </p:nvSpPr>
        <p:spPr>
          <a:xfrm>
            <a:off x="3806285" y="4717547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iagram poteka: povezovalnik 26"/>
          <p:cNvSpPr/>
          <p:nvPr/>
        </p:nvSpPr>
        <p:spPr>
          <a:xfrm>
            <a:off x="1412486" y="4732110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iagram poteka: povezovalnik 27"/>
          <p:cNvSpPr/>
          <p:nvPr/>
        </p:nvSpPr>
        <p:spPr>
          <a:xfrm>
            <a:off x="2181920" y="4732109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iagram poteka: povezovalnik 28"/>
          <p:cNvSpPr/>
          <p:nvPr/>
        </p:nvSpPr>
        <p:spPr>
          <a:xfrm>
            <a:off x="2917903" y="4732108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Slika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706" y="834719"/>
            <a:ext cx="2549914" cy="2549914"/>
          </a:xfrm>
          <a:prstGeom prst="rect">
            <a:avLst/>
          </a:prstGeom>
        </p:spPr>
      </p:pic>
      <p:pic>
        <p:nvPicPr>
          <p:cNvPr id="33" name="Slika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727" y="3384633"/>
            <a:ext cx="2548893" cy="2548893"/>
          </a:xfrm>
          <a:prstGeom prst="rect">
            <a:avLst/>
          </a:prstGeom>
        </p:spPr>
      </p:pic>
      <p:sp>
        <p:nvSpPr>
          <p:cNvPr id="34" name="Diagram poteka: povezovalnik 33"/>
          <p:cNvSpPr/>
          <p:nvPr/>
        </p:nvSpPr>
        <p:spPr>
          <a:xfrm>
            <a:off x="3614688" y="4717546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iagram poteka: povezovalnik 34"/>
          <p:cNvSpPr/>
          <p:nvPr/>
        </p:nvSpPr>
        <p:spPr>
          <a:xfrm>
            <a:off x="873496" y="4732108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iagram poteka: povezovalnik 40"/>
          <p:cNvSpPr/>
          <p:nvPr/>
        </p:nvSpPr>
        <p:spPr>
          <a:xfrm>
            <a:off x="1594625" y="2488100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iagram poteka: povezovalnik 41"/>
          <p:cNvSpPr/>
          <p:nvPr/>
        </p:nvSpPr>
        <p:spPr>
          <a:xfrm>
            <a:off x="2364059" y="2488099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gram poteka: povezovalnik 42"/>
          <p:cNvSpPr/>
          <p:nvPr/>
        </p:nvSpPr>
        <p:spPr>
          <a:xfrm>
            <a:off x="3100042" y="2488098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gram poteka: povezovalnik 43"/>
          <p:cNvSpPr/>
          <p:nvPr/>
        </p:nvSpPr>
        <p:spPr>
          <a:xfrm>
            <a:off x="4948581" y="2471817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gram poteka: povezovalnik 44"/>
          <p:cNvSpPr/>
          <p:nvPr/>
        </p:nvSpPr>
        <p:spPr>
          <a:xfrm>
            <a:off x="4085961" y="2469823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gram poteka: povezovalnik 45"/>
          <p:cNvSpPr/>
          <p:nvPr/>
        </p:nvSpPr>
        <p:spPr>
          <a:xfrm>
            <a:off x="4377687" y="2475112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gram poteka: povezovalnik 46"/>
          <p:cNvSpPr/>
          <p:nvPr/>
        </p:nvSpPr>
        <p:spPr>
          <a:xfrm>
            <a:off x="4655700" y="2469823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iagram poteka: povezovalnik 47"/>
          <p:cNvSpPr/>
          <p:nvPr/>
        </p:nvSpPr>
        <p:spPr>
          <a:xfrm>
            <a:off x="3806285" y="2469823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gram poteka: povezovalnik 48"/>
          <p:cNvSpPr/>
          <p:nvPr/>
        </p:nvSpPr>
        <p:spPr>
          <a:xfrm>
            <a:off x="1412486" y="2484386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iagram poteka: povezovalnik 49"/>
          <p:cNvSpPr/>
          <p:nvPr/>
        </p:nvSpPr>
        <p:spPr>
          <a:xfrm>
            <a:off x="2181920" y="2484385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iagram poteka: povezovalnik 50"/>
          <p:cNvSpPr/>
          <p:nvPr/>
        </p:nvSpPr>
        <p:spPr>
          <a:xfrm>
            <a:off x="2917903" y="2484384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gram poteka: povezovalnik 51"/>
          <p:cNvSpPr/>
          <p:nvPr/>
        </p:nvSpPr>
        <p:spPr>
          <a:xfrm>
            <a:off x="3614688" y="2469822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iagram poteka: povezovalnik 52"/>
          <p:cNvSpPr/>
          <p:nvPr/>
        </p:nvSpPr>
        <p:spPr>
          <a:xfrm>
            <a:off x="873496" y="2484384"/>
            <a:ext cx="133814" cy="12982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Raven povezovalnik 54"/>
          <p:cNvCxnSpPr/>
          <p:nvPr/>
        </p:nvCxnSpPr>
        <p:spPr>
          <a:xfrm>
            <a:off x="6400800" y="2036956"/>
            <a:ext cx="26019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Raven povezovalnik 56"/>
          <p:cNvCxnSpPr/>
          <p:nvPr/>
        </p:nvCxnSpPr>
        <p:spPr>
          <a:xfrm>
            <a:off x="7389541" y="1011044"/>
            <a:ext cx="7435" cy="25276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Raven povezovalnik 57"/>
          <p:cNvCxnSpPr/>
          <p:nvPr/>
        </p:nvCxnSpPr>
        <p:spPr>
          <a:xfrm>
            <a:off x="8158975" y="2036956"/>
            <a:ext cx="26019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2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269"/>
          </a:xfrm>
        </p:spPr>
        <p:txBody>
          <a:bodyPr>
            <a:normAutofit/>
          </a:bodyPr>
          <a:lstStyle/>
          <a:p>
            <a:r>
              <a:rPr lang="en-GB" sz="3200" dirty="0" err="1" smtClean="0"/>
              <a:t>Fazni</a:t>
            </a:r>
            <a:r>
              <a:rPr lang="en-GB" sz="3200" dirty="0" smtClean="0"/>
              <a:t> </a:t>
            </a:r>
            <a:r>
              <a:rPr lang="en-GB" sz="3200" dirty="0" err="1" smtClean="0"/>
              <a:t>prostor</a:t>
            </a:r>
            <a:r>
              <a:rPr lang="en-GB" sz="3200" dirty="0" smtClean="0"/>
              <a:t> v P-B </a:t>
            </a:r>
            <a:r>
              <a:rPr lang="en-GB" sz="3200" dirty="0" err="1" smtClean="0"/>
              <a:t>koordinatah</a:t>
            </a:r>
            <a:endParaRPr lang="en-US" sz="3200" dirty="0"/>
          </a:p>
        </p:txBody>
      </p:sp>
      <p:pic>
        <p:nvPicPr>
          <p:cNvPr id="19" name="Slika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40" y="902772"/>
            <a:ext cx="4100919" cy="3075689"/>
          </a:xfrm>
          <a:prstGeom prst="rect">
            <a:avLst/>
          </a:prstGeom>
        </p:spPr>
      </p:pic>
      <p:pic>
        <p:nvPicPr>
          <p:cNvPr id="20" name="Slika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299" y="902772"/>
            <a:ext cx="4108021" cy="3081015"/>
          </a:xfrm>
          <a:prstGeom prst="rect">
            <a:avLst/>
          </a:prstGeom>
        </p:spPr>
      </p:pic>
      <p:pic>
        <p:nvPicPr>
          <p:cNvPr id="21" name="Slika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40" y="3782311"/>
            <a:ext cx="4100919" cy="3075689"/>
          </a:xfrm>
          <a:prstGeom prst="rect">
            <a:avLst/>
          </a:prstGeom>
        </p:spPr>
      </p:pic>
      <p:pic>
        <p:nvPicPr>
          <p:cNvPr id="30" name="Slika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299" y="3777712"/>
            <a:ext cx="4107051" cy="30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9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1" t="16162" r="36628" b="40146"/>
          <a:stretch/>
        </p:blipFill>
        <p:spPr>
          <a:xfrm>
            <a:off x="609599" y="329512"/>
            <a:ext cx="6808012" cy="3978877"/>
          </a:xfrm>
          <a:prstGeom prst="rect">
            <a:avLst/>
          </a:prstGeom>
        </p:spPr>
      </p:pic>
      <p:sp>
        <p:nvSpPr>
          <p:cNvPr id="4" name="Lok 3"/>
          <p:cNvSpPr/>
          <p:nvPr/>
        </p:nvSpPr>
        <p:spPr>
          <a:xfrm rot="914517">
            <a:off x="1712591" y="4362555"/>
            <a:ext cx="6260757" cy="2989099"/>
          </a:xfrm>
          <a:prstGeom prst="arc">
            <a:avLst>
              <a:gd name="adj1" fmla="val 11183843"/>
              <a:gd name="adj2" fmla="val 20570554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Raven povezovalnik 5"/>
          <p:cNvCxnSpPr/>
          <p:nvPr/>
        </p:nvCxnSpPr>
        <p:spPr>
          <a:xfrm flipH="1" flipV="1">
            <a:off x="3212758" y="4242486"/>
            <a:ext cx="2825016" cy="1999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aven povezovalnik 7"/>
          <p:cNvCxnSpPr/>
          <p:nvPr/>
        </p:nvCxnSpPr>
        <p:spPr>
          <a:xfrm flipH="1">
            <a:off x="1351005" y="4242486"/>
            <a:ext cx="1861752" cy="16475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ven povezovalnik 11"/>
          <p:cNvCxnSpPr/>
          <p:nvPr/>
        </p:nvCxnSpPr>
        <p:spPr>
          <a:xfrm flipH="1" flipV="1">
            <a:off x="2825579" y="4308390"/>
            <a:ext cx="3146853" cy="199755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Raven povezovalnik 14"/>
          <p:cNvCxnSpPr/>
          <p:nvPr/>
        </p:nvCxnSpPr>
        <p:spPr>
          <a:xfrm flipH="1">
            <a:off x="1507524" y="4308389"/>
            <a:ext cx="1318054" cy="172994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Raven povezovalnik 18"/>
          <p:cNvCxnSpPr/>
          <p:nvPr/>
        </p:nvCxnSpPr>
        <p:spPr>
          <a:xfrm flipH="1" flipV="1">
            <a:off x="4053017" y="4974955"/>
            <a:ext cx="2298357" cy="15816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Raven povezovalnik 23"/>
          <p:cNvCxnSpPr/>
          <p:nvPr/>
        </p:nvCxnSpPr>
        <p:spPr>
          <a:xfrm>
            <a:off x="3212757" y="4242486"/>
            <a:ext cx="65902" cy="179584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Lok 39"/>
          <p:cNvSpPr/>
          <p:nvPr/>
        </p:nvSpPr>
        <p:spPr>
          <a:xfrm rot="17324207">
            <a:off x="3942190" y="4981278"/>
            <a:ext cx="609763" cy="453298"/>
          </a:xfrm>
          <a:prstGeom prst="arc">
            <a:avLst>
              <a:gd name="adj1" fmla="val 16200000"/>
              <a:gd name="adj2" fmla="val 1883218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ok 40"/>
          <p:cNvSpPr/>
          <p:nvPr/>
        </p:nvSpPr>
        <p:spPr>
          <a:xfrm rot="10078079">
            <a:off x="2273203" y="3774123"/>
            <a:ext cx="1926807" cy="1717828"/>
          </a:xfrm>
          <a:prstGeom prst="arc">
            <a:avLst>
              <a:gd name="adj1" fmla="val 16778469"/>
              <a:gd name="adj2" fmla="val 2084140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ok 41"/>
          <p:cNvSpPr/>
          <p:nvPr/>
        </p:nvSpPr>
        <p:spPr>
          <a:xfrm rot="13069498">
            <a:off x="1439737" y="5521404"/>
            <a:ext cx="609763" cy="453298"/>
          </a:xfrm>
          <a:prstGeom prst="arc">
            <a:avLst>
              <a:gd name="adj1" fmla="val 16200000"/>
              <a:gd name="adj2" fmla="val 1883218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oljeZBesedilom 42"/>
          <p:cNvSpPr txBox="1"/>
          <p:nvPr/>
        </p:nvSpPr>
        <p:spPr>
          <a:xfrm>
            <a:off x="3229940" y="6015568"/>
            <a:ext cx="2438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l-GR" dirty="0" smtClean="0"/>
              <a:t>ρ</a:t>
            </a:r>
            <a:endParaRPr lang="en-US" dirty="0"/>
          </a:p>
        </p:txBody>
      </p:sp>
      <p:sp>
        <p:nvSpPr>
          <p:cNvPr id="44" name="PoljeZBesedilom 43"/>
          <p:cNvSpPr txBox="1"/>
          <p:nvPr/>
        </p:nvSpPr>
        <p:spPr>
          <a:xfrm>
            <a:off x="3810821" y="4782382"/>
            <a:ext cx="308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 smtClean="0"/>
              <a:t>θ</a:t>
            </a:r>
            <a:endParaRPr lang="en-US" sz="1400" dirty="0"/>
          </a:p>
        </p:txBody>
      </p:sp>
      <p:sp>
        <p:nvSpPr>
          <p:cNvPr id="45" name="PoljeZBesedilom 44"/>
          <p:cNvSpPr txBox="1"/>
          <p:nvPr/>
        </p:nvSpPr>
        <p:spPr>
          <a:xfrm>
            <a:off x="6007854" y="6152060"/>
            <a:ext cx="308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z</a:t>
            </a:r>
            <a:endParaRPr lang="en-US" sz="1400" dirty="0"/>
          </a:p>
        </p:txBody>
      </p:sp>
      <p:sp>
        <p:nvSpPr>
          <p:cNvPr id="46" name="PoljeZBesedilom 45"/>
          <p:cNvSpPr txBox="1"/>
          <p:nvPr/>
        </p:nvSpPr>
        <p:spPr>
          <a:xfrm>
            <a:off x="2603218" y="4392924"/>
            <a:ext cx="308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z’</a:t>
            </a:r>
          </a:p>
        </p:txBody>
      </p:sp>
      <p:sp>
        <p:nvSpPr>
          <p:cNvPr id="48" name="PoljeZBesedilom 47"/>
          <p:cNvSpPr txBox="1"/>
          <p:nvPr/>
        </p:nvSpPr>
        <p:spPr>
          <a:xfrm>
            <a:off x="1251290" y="5832390"/>
            <a:ext cx="39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49" name="PoljeZBesedilom 48"/>
          <p:cNvSpPr txBox="1"/>
          <p:nvPr/>
        </p:nvSpPr>
        <p:spPr>
          <a:xfrm>
            <a:off x="1403690" y="5984790"/>
            <a:ext cx="39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50" name="PoljeZBesedilom 49"/>
          <p:cNvSpPr txBox="1"/>
          <p:nvPr/>
        </p:nvSpPr>
        <p:spPr>
          <a:xfrm>
            <a:off x="1308265" y="5810685"/>
            <a:ext cx="378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 smtClean="0"/>
              <a:t>θ</a:t>
            </a:r>
            <a:r>
              <a:rPr lang="en-GB" sz="1400" dirty="0" smtClean="0"/>
              <a:t>'</a:t>
            </a:r>
            <a:endParaRPr lang="en-US" sz="1400" dirty="0"/>
          </a:p>
        </p:txBody>
      </p:sp>
      <p:sp>
        <p:nvSpPr>
          <p:cNvPr id="52" name="PoljeZBesedilom 51"/>
          <p:cNvSpPr txBox="1"/>
          <p:nvPr/>
        </p:nvSpPr>
        <p:spPr>
          <a:xfrm>
            <a:off x="2510002" y="5326429"/>
            <a:ext cx="30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ψ</a:t>
            </a:r>
            <a:endParaRPr lang="en-US" dirty="0"/>
          </a:p>
        </p:txBody>
      </p:sp>
      <p:cxnSp>
        <p:nvCxnSpPr>
          <p:cNvPr id="54" name="Raven puščični povezovalnik 53"/>
          <p:cNvCxnSpPr/>
          <p:nvPr/>
        </p:nvCxnSpPr>
        <p:spPr>
          <a:xfrm flipH="1">
            <a:off x="5930364" y="6192233"/>
            <a:ext cx="94173" cy="153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Raven puščični povezovalnik 54"/>
          <p:cNvCxnSpPr/>
          <p:nvPr/>
        </p:nvCxnSpPr>
        <p:spPr>
          <a:xfrm>
            <a:off x="2768315" y="4355895"/>
            <a:ext cx="143000" cy="1434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PoljeZBesedilom 59"/>
          <p:cNvSpPr txBox="1"/>
          <p:nvPr/>
        </p:nvSpPr>
        <p:spPr>
          <a:xfrm>
            <a:off x="3963221" y="4934782"/>
            <a:ext cx="308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  <p:sp>
        <p:nvSpPr>
          <p:cNvPr id="61" name="PoljeZBesedilom 60"/>
          <p:cNvSpPr txBox="1"/>
          <p:nvPr/>
        </p:nvSpPr>
        <p:spPr>
          <a:xfrm>
            <a:off x="4115621" y="5087182"/>
            <a:ext cx="308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6348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2" t="16472" r="24122" b="11041"/>
          <a:stretch/>
        </p:blipFill>
        <p:spPr>
          <a:xfrm>
            <a:off x="345989" y="304799"/>
            <a:ext cx="8267734" cy="5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1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6" t="9599" r="24594" b="5836"/>
          <a:stretch/>
        </p:blipFill>
        <p:spPr>
          <a:xfrm>
            <a:off x="321274" y="453082"/>
            <a:ext cx="7834185" cy="626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5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6" t="9279" r="24594" b="16887"/>
          <a:stretch/>
        </p:blipFill>
        <p:spPr>
          <a:xfrm>
            <a:off x="329511" y="263611"/>
            <a:ext cx="8352523" cy="591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3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8" t="14564" r="24234" b="12723"/>
          <a:stretch/>
        </p:blipFill>
        <p:spPr>
          <a:xfrm>
            <a:off x="345990" y="395417"/>
            <a:ext cx="8049528" cy="569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5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4" r="1712" b="3915"/>
          <a:stretch/>
        </p:blipFill>
        <p:spPr>
          <a:xfrm>
            <a:off x="0" y="1210962"/>
            <a:ext cx="9146707" cy="425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0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ova tema">
  <a:themeElements>
    <a:clrScheme name="Officeova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ova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ova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2162</TotalTime>
  <Words>63</Words>
  <Application>Microsoft Office PowerPoint</Application>
  <PresentationFormat>Diaprojekcija na zaslonu (4:3)</PresentationFormat>
  <Paragraphs>24</Paragraphs>
  <Slides>15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Officeova tema</vt:lpstr>
      <vt:lpstr>Teorija dinamičnih sistemov</vt:lpstr>
      <vt:lpstr>PowerPointova predstavitev</vt:lpstr>
      <vt:lpstr>PowerPointova predstavitev</vt:lpstr>
      <vt:lpstr>PowerPointova predstavitev</vt:lpstr>
      <vt:lpstr>PowerPointova predstavitev</vt:lpstr>
      <vt:lpstr>Fazni prostor v P-B koordinatah</vt:lpstr>
      <vt:lpstr>Fazni prostor v P-B koordinatah</vt:lpstr>
      <vt:lpstr>Fazni prostor v P-B koordinatah</vt:lpstr>
      <vt:lpstr>Fazni prostor v P-B koordinatah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Sinajev biliard</dc:title>
  <dc:creator>Žan Butala</dc:creator>
  <cp:lastModifiedBy>Žan Butala</cp:lastModifiedBy>
  <cp:revision>24</cp:revision>
  <dcterms:created xsi:type="dcterms:W3CDTF">2024-01-16T22:51:59Z</dcterms:created>
  <dcterms:modified xsi:type="dcterms:W3CDTF">2024-01-18T10:54:17Z</dcterms:modified>
</cp:coreProperties>
</file>